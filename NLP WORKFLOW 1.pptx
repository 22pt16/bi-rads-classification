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layfair Display Medium"/>
      <p:regular r:id="rId21"/>
      <p:bold r:id="rId22"/>
      <p:italic r:id="rId23"/>
      <p:boldItalic r:id="rId24"/>
    </p:embeddedFont>
    <p:embeddedFont>
      <p:font typeface="Playfair Displ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ayfairDisplayMedium-bold.fntdata"/><Relationship Id="rId21" Type="http://schemas.openxmlformats.org/officeDocument/2006/relationships/font" Target="fonts/PlayfairDisplayMedium-regular.fntdata"/><Relationship Id="rId24" Type="http://schemas.openxmlformats.org/officeDocument/2006/relationships/font" Target="fonts/PlayfairDisplayMedium-boldItalic.fntdata"/><Relationship Id="rId23" Type="http://schemas.openxmlformats.org/officeDocument/2006/relationships/font" Target="fonts/PlayfairDisplay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layfairDisplay-bold.fntdata"/><Relationship Id="rId25" Type="http://schemas.openxmlformats.org/officeDocument/2006/relationships/font" Target="fonts/PlayfairDisplay-regular.fntdata"/><Relationship Id="rId28" Type="http://schemas.openxmlformats.org/officeDocument/2006/relationships/font" Target="fonts/PlayfairDisplay-boldItalic.fntdata"/><Relationship Id="rId27" Type="http://schemas.openxmlformats.org/officeDocument/2006/relationships/font" Target="fonts/PlayfairDisplay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5dc97ff83_0_2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f5dc97ff83_0_2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5dc97ff83_0_3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f5dc97ff83_0_3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5dc97ff83_0_3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f5dc97ff83_0_3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5dc97ff83_0_3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5dc97ff83_0_3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6342b83c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6342b83c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5dc97ff83_0_3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f5dc97ff83_0_3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5dc97ff83_0_3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f5dc97ff83_0_3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5dc97ff83_0_3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5dc97ff83_0_3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5dc97ff83_0_3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5dc97ff83_0_3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6352c42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6352c42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6352c422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6352c422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6352c422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6352c422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6352c422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f6352c422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5dc97ff83_0_2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f5dc97ff83_0_2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">
  <p:cSld name="BLANK_1_1_1_1_8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66" name="Google Shape;66;p15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67" name="Google Shape;67;p15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68" name="Google Shape;68;p15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 with small statement">
  <p:cSld name="BLANK_1_1_1_1_6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5503325" y="524750"/>
            <a:ext cx="3356100" cy="8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9pPr>
          </a:lstStyle>
          <a:p/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276075" y="457200"/>
            <a:ext cx="50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6"/>
          <p:cNvSpPr txBox="1"/>
          <p:nvPr>
            <p:ph idx="3" type="subTitle"/>
          </p:nvPr>
        </p:nvSpPr>
        <p:spPr>
          <a:xfrm>
            <a:off x="27952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4" type="subTitle"/>
          </p:nvPr>
        </p:nvSpPr>
        <p:spPr>
          <a:xfrm>
            <a:off x="2489940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5" type="subTitle"/>
          </p:nvPr>
        </p:nvSpPr>
        <p:spPr>
          <a:xfrm>
            <a:off x="469513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6" type="subTitle"/>
          </p:nvPr>
        </p:nvSpPr>
        <p:spPr>
          <a:xfrm>
            <a:off x="6900335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7" type="body"/>
          </p:nvPr>
        </p:nvSpPr>
        <p:spPr>
          <a:xfrm>
            <a:off x="27495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79" name="Google Shape;79;p16"/>
          <p:cNvSpPr txBox="1"/>
          <p:nvPr>
            <p:ph idx="8" type="body"/>
          </p:nvPr>
        </p:nvSpPr>
        <p:spPr>
          <a:xfrm>
            <a:off x="248994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80" name="Google Shape;80;p16"/>
          <p:cNvSpPr txBox="1"/>
          <p:nvPr>
            <p:ph idx="9" type="body"/>
          </p:nvPr>
        </p:nvSpPr>
        <p:spPr>
          <a:xfrm>
            <a:off x="470493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81" name="Google Shape;81;p16"/>
          <p:cNvSpPr txBox="1"/>
          <p:nvPr>
            <p:ph idx="13" type="body"/>
          </p:nvPr>
        </p:nvSpPr>
        <p:spPr>
          <a:xfrm>
            <a:off x="6900335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82" name="Google Shape;82;p16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right image and 2 text boxes">
  <p:cSld name="BLANK_1_1_1_1_5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276075" y="457200"/>
            <a:ext cx="6432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7"/>
          <p:cNvSpPr/>
          <p:nvPr>
            <p:ph idx="2" type="pic"/>
          </p:nvPr>
        </p:nvSpPr>
        <p:spPr>
          <a:xfrm>
            <a:off x="6802800" y="0"/>
            <a:ext cx="23412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7"/>
          <p:cNvSpPr txBox="1"/>
          <p:nvPr>
            <p:ph idx="1" type="subTitle"/>
          </p:nvPr>
        </p:nvSpPr>
        <p:spPr>
          <a:xfrm>
            <a:off x="4682775" y="2717425"/>
            <a:ext cx="20262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3" type="subTitle"/>
          </p:nvPr>
        </p:nvSpPr>
        <p:spPr>
          <a:xfrm>
            <a:off x="6843453" y="2717425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5" type="body"/>
          </p:nvPr>
        </p:nvSpPr>
        <p:spPr>
          <a:xfrm>
            <a:off x="4682775" y="3042765"/>
            <a:ext cx="20262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94" name="Google Shape;94;p17"/>
          <p:cNvSpPr txBox="1"/>
          <p:nvPr>
            <p:ph idx="6" type="body"/>
          </p:nvPr>
        </p:nvSpPr>
        <p:spPr>
          <a:xfrm>
            <a:off x="6843455" y="3042765"/>
            <a:ext cx="20301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peakers info">
  <p:cSld name="BLANK_1_1_1_1_3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5461825" y="850"/>
            <a:ext cx="368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1987875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2" type="subTitle"/>
          </p:nvPr>
        </p:nvSpPr>
        <p:spPr>
          <a:xfrm>
            <a:off x="1987875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9" name="Google Shape;99;p18"/>
          <p:cNvSpPr/>
          <p:nvPr>
            <p:ph idx="3" type="pic"/>
          </p:nvPr>
        </p:nvSpPr>
        <p:spPr>
          <a:xfrm>
            <a:off x="-5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8"/>
          <p:cNvSpPr/>
          <p:nvPr>
            <p:ph idx="4" type="pic"/>
          </p:nvPr>
        </p:nvSpPr>
        <p:spPr>
          <a:xfrm>
            <a:off x="452716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8"/>
          <p:cNvSpPr txBox="1"/>
          <p:nvPr>
            <p:ph idx="5" type="subTitle"/>
          </p:nvPr>
        </p:nvSpPr>
        <p:spPr>
          <a:xfrm>
            <a:off x="6525486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6" type="subTitle"/>
          </p:nvPr>
        </p:nvSpPr>
        <p:spPr>
          <a:xfrm>
            <a:off x="6525486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276075" y="457200"/>
            <a:ext cx="4248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7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8"/>
          <p:cNvSpPr txBox="1"/>
          <p:nvPr>
            <p:ph idx="8" type="body"/>
          </p:nvPr>
        </p:nvSpPr>
        <p:spPr>
          <a:xfrm>
            <a:off x="1987875" y="3545425"/>
            <a:ext cx="17550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9" type="body"/>
          </p:nvPr>
        </p:nvSpPr>
        <p:spPr>
          <a:xfrm>
            <a:off x="6536675" y="3545425"/>
            <a:ext cx="16998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>
            <p:ph idx="2" type="pic"/>
          </p:nvPr>
        </p:nvSpPr>
        <p:spPr>
          <a:xfrm>
            <a:off x="4138225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9"/>
          <p:cNvSpPr/>
          <p:nvPr>
            <p:ph idx="3" type="pic"/>
          </p:nvPr>
        </p:nvSpPr>
        <p:spPr>
          <a:xfrm>
            <a:off x="4138225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9"/>
          <p:cNvSpPr/>
          <p:nvPr>
            <p:ph idx="4" type="pic"/>
          </p:nvPr>
        </p:nvSpPr>
        <p:spPr>
          <a:xfrm>
            <a:off x="4138213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9"/>
          <p:cNvSpPr/>
          <p:nvPr>
            <p:ph idx="5" type="pic"/>
          </p:nvPr>
        </p:nvSpPr>
        <p:spPr>
          <a:xfrm>
            <a:off x="6573252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9"/>
          <p:cNvSpPr/>
          <p:nvPr>
            <p:ph idx="6" type="pic"/>
          </p:nvPr>
        </p:nvSpPr>
        <p:spPr>
          <a:xfrm>
            <a:off x="6573252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9"/>
          <p:cNvSpPr/>
          <p:nvPr>
            <p:ph idx="7" type="pic"/>
          </p:nvPr>
        </p:nvSpPr>
        <p:spPr>
          <a:xfrm>
            <a:off x="6573252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9"/>
          <p:cNvSpPr txBox="1"/>
          <p:nvPr>
            <p:ph idx="1" type="subTitle"/>
          </p:nvPr>
        </p:nvSpPr>
        <p:spPr>
          <a:xfrm>
            <a:off x="5406561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6" name="Google Shape;116;p19"/>
          <p:cNvSpPr txBox="1"/>
          <p:nvPr>
            <p:ph idx="8" type="subTitle"/>
          </p:nvPr>
        </p:nvSpPr>
        <p:spPr>
          <a:xfrm>
            <a:off x="5406561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7" name="Google Shape;117;p19"/>
          <p:cNvSpPr txBox="1"/>
          <p:nvPr>
            <p:ph idx="9" type="subTitle"/>
          </p:nvPr>
        </p:nvSpPr>
        <p:spPr>
          <a:xfrm>
            <a:off x="5406561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idx="13" type="subTitle"/>
          </p:nvPr>
        </p:nvSpPr>
        <p:spPr>
          <a:xfrm>
            <a:off x="7840736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4" type="subTitle"/>
          </p:nvPr>
        </p:nvSpPr>
        <p:spPr>
          <a:xfrm>
            <a:off x="7840736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15" type="subTitle"/>
          </p:nvPr>
        </p:nvSpPr>
        <p:spPr>
          <a:xfrm>
            <a:off x="7840736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6" type="subTitle"/>
          </p:nvPr>
        </p:nvSpPr>
        <p:spPr>
          <a:xfrm>
            <a:off x="5406550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2" name="Google Shape;122;p19"/>
          <p:cNvSpPr txBox="1"/>
          <p:nvPr>
            <p:ph idx="17" type="subTitle"/>
          </p:nvPr>
        </p:nvSpPr>
        <p:spPr>
          <a:xfrm>
            <a:off x="7840725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3" name="Google Shape;123;p19"/>
          <p:cNvSpPr txBox="1"/>
          <p:nvPr>
            <p:ph idx="18" type="subTitle"/>
          </p:nvPr>
        </p:nvSpPr>
        <p:spPr>
          <a:xfrm>
            <a:off x="5406550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4" name="Google Shape;124;p19"/>
          <p:cNvSpPr txBox="1"/>
          <p:nvPr>
            <p:ph idx="19" type="subTitle"/>
          </p:nvPr>
        </p:nvSpPr>
        <p:spPr>
          <a:xfrm>
            <a:off x="7840725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5" name="Google Shape;125;p19"/>
          <p:cNvSpPr txBox="1"/>
          <p:nvPr>
            <p:ph idx="20" type="subTitle"/>
          </p:nvPr>
        </p:nvSpPr>
        <p:spPr>
          <a:xfrm>
            <a:off x="5406550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6" name="Google Shape;126;p19"/>
          <p:cNvSpPr txBox="1"/>
          <p:nvPr>
            <p:ph idx="21" type="subTitle"/>
          </p:nvPr>
        </p:nvSpPr>
        <p:spPr>
          <a:xfrm>
            <a:off x="7840725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7" name="Google Shape;127;p19"/>
          <p:cNvSpPr txBox="1"/>
          <p:nvPr>
            <p:ph type="title"/>
          </p:nvPr>
        </p:nvSpPr>
        <p:spPr>
          <a:xfrm>
            <a:off x="276075" y="457200"/>
            <a:ext cx="38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2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" name="Google Shape;132;p2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0"/>
          <p:cNvSpPr txBox="1"/>
          <p:nvPr>
            <p:ph idx="2" type="body"/>
          </p:nvPr>
        </p:nvSpPr>
        <p:spPr>
          <a:xfrm>
            <a:off x="276075" y="1763425"/>
            <a:ext cx="43428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with picture">
  <p:cSld name="BLANK_1_1_1_1_1_1_1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8" name="Google Shape;138;p2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/>
          <p:nvPr>
            <p:ph idx="3" type="pic"/>
          </p:nvPr>
        </p:nvSpPr>
        <p:spPr>
          <a:xfrm>
            <a:off x="0" y="0"/>
            <a:ext cx="9144000" cy="107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dk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270983" y="1985025"/>
            <a:ext cx="33429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43" name="Google Shape;143;p22"/>
          <p:cNvSpPr txBox="1"/>
          <p:nvPr>
            <p:ph idx="2" type="title"/>
          </p:nvPr>
        </p:nvSpPr>
        <p:spPr>
          <a:xfrm>
            <a:off x="270983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4" name="Google Shape;144;p22"/>
          <p:cNvSpPr txBox="1"/>
          <p:nvPr>
            <p:ph idx="3" type="title"/>
          </p:nvPr>
        </p:nvSpPr>
        <p:spPr>
          <a:xfrm>
            <a:off x="270983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4" type="title"/>
          </p:nvPr>
        </p:nvSpPr>
        <p:spPr>
          <a:xfrm>
            <a:off x="4858317" y="19850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5" type="title"/>
          </p:nvPr>
        </p:nvSpPr>
        <p:spPr>
          <a:xfrm>
            <a:off x="4858317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6" type="title"/>
          </p:nvPr>
        </p:nvSpPr>
        <p:spPr>
          <a:xfrm>
            <a:off x="4858317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7"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9" name="Google Shape;149;p2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2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2" name="Google Shape;152;p22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3" name="Google Shape;153;p22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4" name="Google Shape;154;p22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5" name="Google Shape;155;p22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6" name="Google Shape;156;p22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/>
          <p:nvPr>
            <p:ph idx="2" type="pic"/>
          </p:nvPr>
        </p:nvSpPr>
        <p:spPr>
          <a:xfrm>
            <a:off x="0" y="0"/>
            <a:ext cx="434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4618950" y="457200"/>
            <a:ext cx="425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BLANK_1_1_1_1_1_1_1_1_1_1_1_1_1_1_1_1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>
            <p:ph idx="2" type="pic"/>
          </p:nvPr>
        </p:nvSpPr>
        <p:spPr>
          <a:xfrm>
            <a:off x="6877724" y="0"/>
            <a:ext cx="2266200" cy="34050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24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5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CUSTOM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6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4" name="Google Shape;184;p26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85" name="Google Shape;185;p26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86" name="Google Shape;186;p26"/>
          <p:cNvSpPr txBox="1"/>
          <p:nvPr>
            <p:ph idx="3" type="body"/>
          </p:nvPr>
        </p:nvSpPr>
        <p:spPr>
          <a:xfrm>
            <a:off x="30747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87" name="Google Shape;187;p26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body"/>
          </p:nvPr>
        </p:nvSpPr>
        <p:spPr>
          <a:xfrm>
            <a:off x="48828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89" name="Google Shape;189;p26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0" name="Google Shape;190;p26"/>
          <p:cNvSpPr txBox="1"/>
          <p:nvPr>
            <p:ph idx="7" type="body"/>
          </p:nvPr>
        </p:nvSpPr>
        <p:spPr>
          <a:xfrm>
            <a:off x="66909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91" name="Google Shape;191;p26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2" name="Google Shape;192;p26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3" name="Google Shape;193;p26"/>
          <p:cNvSpPr/>
          <p:nvPr>
            <p:ph idx="13" type="pic"/>
          </p:nvPr>
        </p:nvSpPr>
        <p:spPr>
          <a:xfrm>
            <a:off x="-74" y="3991500"/>
            <a:ext cx="2266200" cy="115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CUSTOM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1" type="subTitle"/>
          </p:nvPr>
        </p:nvSpPr>
        <p:spPr>
          <a:xfrm>
            <a:off x="276075" y="1194000"/>
            <a:ext cx="49926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98" name="Google Shape;198;p27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9" name="Google Shape;199;p27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4" type="body"/>
          </p:nvPr>
        </p:nvSpPr>
        <p:spPr>
          <a:xfrm>
            <a:off x="2760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01" name="Google Shape;201;p27"/>
          <p:cNvSpPr txBox="1"/>
          <p:nvPr>
            <p:ph idx="5" type="subTitle"/>
          </p:nvPr>
        </p:nvSpPr>
        <p:spPr>
          <a:xfrm>
            <a:off x="2760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2" name="Google Shape;202;p27"/>
          <p:cNvSpPr txBox="1"/>
          <p:nvPr>
            <p:ph idx="6" type="body"/>
          </p:nvPr>
        </p:nvSpPr>
        <p:spPr>
          <a:xfrm>
            <a:off x="30747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03" name="Google Shape;203;p27"/>
          <p:cNvSpPr txBox="1"/>
          <p:nvPr>
            <p:ph idx="7" type="subTitle"/>
          </p:nvPr>
        </p:nvSpPr>
        <p:spPr>
          <a:xfrm>
            <a:off x="30747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4" name="Google Shape;204;p27"/>
          <p:cNvSpPr txBox="1"/>
          <p:nvPr>
            <p:ph idx="8" type="body"/>
          </p:nvPr>
        </p:nvSpPr>
        <p:spPr>
          <a:xfrm>
            <a:off x="58734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05" name="Google Shape;205;p27"/>
          <p:cNvSpPr txBox="1"/>
          <p:nvPr>
            <p:ph idx="9" type="subTitle"/>
          </p:nvPr>
        </p:nvSpPr>
        <p:spPr>
          <a:xfrm>
            <a:off x="58734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6" name="Google Shape;206;p27"/>
          <p:cNvSpPr/>
          <p:nvPr>
            <p:ph idx="13" type="pic"/>
          </p:nvPr>
        </p:nvSpPr>
        <p:spPr>
          <a:xfrm>
            <a:off x="2760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7"/>
          <p:cNvSpPr/>
          <p:nvPr>
            <p:ph idx="14" type="pic"/>
          </p:nvPr>
        </p:nvSpPr>
        <p:spPr>
          <a:xfrm>
            <a:off x="30747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7"/>
          <p:cNvSpPr/>
          <p:nvPr>
            <p:ph idx="15" type="pic"/>
          </p:nvPr>
        </p:nvSpPr>
        <p:spPr>
          <a:xfrm>
            <a:off x="5873475" y="2073688"/>
            <a:ext cx="2463300" cy="157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CUSTOM_1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28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3" name="Google Shape;213;p28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16" name="Google Shape;216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5" name="Google Shape;225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35" name="Google Shape;235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6" name="Google Shape;236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6" name="Google Shape;246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7" name="Google Shape;247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8" name="Google Shape;248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9" name="Google Shape;249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0" name="Google Shape;250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4" name="Google Shape;254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8" name="Google Shape;258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3" name="Google Shape;263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4" name="Google Shape;264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65" name="Google Shape;265;p4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4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7" name="Google Shape;267;p4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8" name="Google Shape;268;p4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1" name="Google Shape;271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2" name="Google Shape;272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4" name="Google Shape;274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5" name="Google Shape;275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" name="Google Shape;276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" name="Google Shape;277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" name="Google Shape;281;p4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4" name="Google Shape;284;p4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4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4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4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5" name="Google Shape;295;p4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4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8" name="Google Shape;298;p4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9" name="Google Shape;299;p4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0" name="Google Shape;300;p4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theme" Target="../theme/theme3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3950" y="3166425"/>
            <a:ext cx="64248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78750" y="513900"/>
            <a:ext cx="5802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pos="174">
          <p15:clr>
            <a:srgbClr val="E46962"/>
          </p15:clr>
        </p15:guide>
        <p15:guide id="22" pos="55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8" name="Google Shape;318;p50"/>
          <p:cNvCxnSpPr/>
          <p:nvPr/>
        </p:nvCxnSpPr>
        <p:spPr>
          <a:xfrm rot="10800000">
            <a:off x="750" y="361488"/>
            <a:ext cx="9102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n architectural detail of a modern building." id="319" name="Google Shape;319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1985" r="8587" t="0"/>
          <a:stretch/>
        </p:blipFill>
        <p:spPr>
          <a:xfrm>
            <a:off x="6877050" y="0"/>
            <a:ext cx="2271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50"/>
          <p:cNvSpPr txBox="1"/>
          <p:nvPr>
            <p:ph idx="4294967295" type="title"/>
          </p:nvPr>
        </p:nvSpPr>
        <p:spPr>
          <a:xfrm>
            <a:off x="107125" y="793025"/>
            <a:ext cx="6812100" cy="35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700"/>
              <a:t>Comparative Analysis of N-gram based, Machine Learning and Deep Learning Models for BI-RADS Classification from Mammography Reports</a:t>
            </a:r>
            <a:endParaRPr b="1" sz="27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700"/>
              <a:t>An Experimental Study on Portuguese Radiology Reports</a:t>
            </a:r>
            <a:endParaRPr i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1"/>
          <p:cNvSpPr txBox="1"/>
          <p:nvPr/>
        </p:nvSpPr>
        <p:spPr>
          <a:xfrm>
            <a:off x="-133200" y="407475"/>
            <a:ext cx="9277200" cy="4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800" u="sng">
                <a:latin typeface="Playfair Display"/>
                <a:ea typeface="Playfair Display"/>
                <a:cs typeface="Playfair Display"/>
                <a:sym typeface="Playfair Display"/>
              </a:rPr>
              <a:t>Problem Statement</a:t>
            </a:r>
            <a:endParaRPr b="1" sz="2800" u="sng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2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73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Font typeface="Playfair Display"/>
              <a:buChar char="●"/>
            </a:pPr>
            <a:r>
              <a:rPr lang="en" sz="2500">
                <a:latin typeface="Playfair Display"/>
                <a:ea typeface="Playfair Display"/>
                <a:cs typeface="Playfair Display"/>
                <a:sym typeface="Playfair Display"/>
              </a:rPr>
              <a:t>To classify mammography reports into BI-RADS categories (0–6) using only textual findings.</a:t>
            </a:r>
            <a:endParaRPr sz="2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73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Char char="●"/>
            </a:pPr>
            <a:r>
              <a:rPr lang="en" sz="2500">
                <a:latin typeface="Playfair Display"/>
                <a:ea typeface="Playfair Display"/>
                <a:cs typeface="Playfair Display"/>
                <a:sym typeface="Playfair Display"/>
              </a:rPr>
              <a:t>Compare traditional N-gram based Machine Learning models with sequential Deep Learning models (RNN &amp; LSTM).</a:t>
            </a:r>
            <a:endParaRPr sz="2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73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Char char="●"/>
            </a:pPr>
            <a:r>
              <a:rPr lang="en" sz="2500">
                <a:latin typeface="Playfair Display"/>
                <a:ea typeface="Playfair Display"/>
                <a:cs typeface="Playfair Display"/>
                <a:sym typeface="Playfair Display"/>
              </a:rPr>
              <a:t>Evaluate performance under class imbalance.</a:t>
            </a:r>
            <a:endParaRPr sz="2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2"/>
          <p:cNvSpPr txBox="1"/>
          <p:nvPr/>
        </p:nvSpPr>
        <p:spPr>
          <a:xfrm>
            <a:off x="63900" y="599675"/>
            <a:ext cx="9110100" cy="4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800">
                <a:latin typeface="Playfair Display"/>
                <a:ea typeface="Playfair Display"/>
                <a:cs typeface="Playfair Display"/>
                <a:sym typeface="Playfair Display"/>
              </a:rPr>
              <a:t>Research Objectives</a:t>
            </a:r>
            <a:endParaRPr b="1" sz="2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23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Playfair Display"/>
              <a:buAutoNum type="arabicPeriod"/>
            </a:pPr>
            <a:r>
              <a:rPr lang="en" sz="2300">
                <a:latin typeface="Playfair Display"/>
                <a:ea typeface="Playfair Display"/>
                <a:cs typeface="Playfair Display"/>
                <a:sym typeface="Playfair Display"/>
              </a:rPr>
              <a:t>Apply N-gram + TF-IDF feature engineering for text classification</a:t>
            </a:r>
            <a:endParaRPr sz="23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Playfair Display"/>
              <a:buAutoNum type="arabicPeriod"/>
            </a:pPr>
            <a:r>
              <a:rPr lang="en" sz="2300">
                <a:latin typeface="Playfair Display"/>
                <a:ea typeface="Playfair Display"/>
                <a:cs typeface="Playfair Display"/>
                <a:sym typeface="Playfair Display"/>
              </a:rPr>
              <a:t>Train and evaluate traditional Machine Learning models</a:t>
            </a:r>
            <a:endParaRPr sz="23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Playfair Display"/>
              <a:buAutoNum type="arabicPeriod"/>
            </a:pPr>
            <a:r>
              <a:rPr lang="en" sz="2300">
                <a:latin typeface="Playfair Display"/>
                <a:ea typeface="Playfair Display"/>
                <a:cs typeface="Playfair Display"/>
                <a:sym typeface="Playfair Display"/>
              </a:rPr>
              <a:t>Implement and evaluate RNN, LSTM, and Bidirectional LSTM models</a:t>
            </a:r>
            <a:endParaRPr sz="23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Playfair Display"/>
              <a:buAutoNum type="arabicPeriod"/>
            </a:pPr>
            <a:r>
              <a:rPr lang="en" sz="2300">
                <a:latin typeface="Playfair Display"/>
                <a:ea typeface="Playfair Display"/>
                <a:cs typeface="Playfair Display"/>
                <a:sym typeface="Playfair Display"/>
              </a:rPr>
              <a:t>Compare all models using Macro F1 score</a:t>
            </a:r>
            <a:endParaRPr sz="23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Playfair Display"/>
              <a:buAutoNum type="arabicPeriod"/>
            </a:pPr>
            <a:r>
              <a:rPr lang="en" sz="2300">
                <a:latin typeface="Playfair Display"/>
                <a:ea typeface="Playfair Display"/>
                <a:cs typeface="Playfair Display"/>
                <a:sym typeface="Playfair Display"/>
              </a:rPr>
              <a:t>Perform error analysis and efficiency comparison</a:t>
            </a:r>
            <a:endParaRPr sz="2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/>
          <p:nvPr/>
        </p:nvSpPr>
        <p:spPr>
          <a:xfrm>
            <a:off x="2423700" y="1801500"/>
            <a:ext cx="4379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100">
                <a:latin typeface="Playfair Display"/>
                <a:ea typeface="Playfair Display"/>
                <a:cs typeface="Playfair Display"/>
                <a:sym typeface="Playfair Display"/>
              </a:rPr>
              <a:t>Overall Workflow</a:t>
            </a:r>
            <a:endParaRPr sz="31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54"/>
          <p:cNvPicPr preferRelativeResize="0"/>
          <p:nvPr/>
        </p:nvPicPr>
        <p:blipFill rotWithShape="1">
          <a:blip r:embed="rId3">
            <a:alphaModFix/>
          </a:blip>
          <a:srcRect b="0" l="1283" r="0" t="0"/>
          <a:stretch/>
        </p:blipFill>
        <p:spPr>
          <a:xfrm>
            <a:off x="1676050" y="89488"/>
            <a:ext cx="5257452" cy="4964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5"/>
          <p:cNvSpPr txBox="1"/>
          <p:nvPr/>
        </p:nvSpPr>
        <p:spPr>
          <a:xfrm>
            <a:off x="0" y="0"/>
            <a:ext cx="9018000" cy="3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>
                <a:latin typeface="Playfair Display"/>
                <a:ea typeface="Playfair Display"/>
                <a:cs typeface="Playfair Display"/>
                <a:sym typeface="Playfair Display"/>
              </a:rPr>
              <a:t>Dataset Description</a:t>
            </a:r>
            <a:endParaRPr b="1" sz="3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Playfair Display"/>
              <a:buChar char="●"/>
            </a:pPr>
            <a:r>
              <a:rPr i="1" lang="en" sz="2400">
                <a:latin typeface="Playfair Display"/>
                <a:ea typeface="Playfair Display"/>
                <a:cs typeface="Playfair Display"/>
                <a:sym typeface="Playfair Display"/>
              </a:rPr>
              <a:t>Dataset: SPR 2026 Mammography Report Classification</a:t>
            </a:r>
            <a:endParaRPr i="1"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"/>
              <a:buChar char="●"/>
            </a:pPr>
            <a:r>
              <a:rPr i="1" lang="en" sz="2400">
                <a:latin typeface="Playfair Display"/>
                <a:ea typeface="Playfair Display"/>
                <a:cs typeface="Playfair Display"/>
                <a:sym typeface="Playfair Display"/>
              </a:rPr>
              <a:t>Language: Portuguese</a:t>
            </a:r>
            <a:endParaRPr i="1"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"/>
              <a:buChar char="●"/>
            </a:pPr>
            <a:r>
              <a:rPr i="1" lang="en" sz="2400">
                <a:latin typeface="Playfair Display"/>
                <a:ea typeface="Playfair Display"/>
                <a:cs typeface="Playfair Display"/>
                <a:sym typeface="Playfair Display"/>
              </a:rPr>
              <a:t>Columns: Report text + BI-RADS target (0–6)</a:t>
            </a:r>
            <a:endParaRPr i="1"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"/>
              <a:buChar char="●"/>
            </a:pPr>
            <a:r>
              <a:rPr i="1" lang="en" sz="2400">
                <a:latin typeface="Playfair Display"/>
                <a:ea typeface="Playfair Display"/>
                <a:cs typeface="Playfair Display"/>
                <a:sym typeface="Playfair Display"/>
              </a:rPr>
              <a:t>Challenge: Highly imbalanced classes (BI-RADS 2 is majority)</a:t>
            </a:r>
            <a:endParaRPr i="1" sz="24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6"/>
          <p:cNvSpPr txBox="1"/>
          <p:nvPr/>
        </p:nvSpPr>
        <p:spPr>
          <a:xfrm>
            <a:off x="0" y="0"/>
            <a:ext cx="908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>
                <a:latin typeface="Playfair Display"/>
                <a:ea typeface="Playfair Display"/>
                <a:cs typeface="Playfair Display"/>
                <a:sym typeface="Playfair Display"/>
              </a:rPr>
              <a:t>Data Preprocessing</a:t>
            </a:r>
            <a:endParaRPr sz="2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51" name="Google Shape;35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550" y="700275"/>
            <a:ext cx="8729000" cy="436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7"/>
          <p:cNvSpPr txBox="1"/>
          <p:nvPr/>
        </p:nvSpPr>
        <p:spPr>
          <a:xfrm>
            <a:off x="1922100" y="1637600"/>
            <a:ext cx="55659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600">
                <a:latin typeface="Playfair Display"/>
                <a:ea typeface="Playfair Display"/>
                <a:cs typeface="Playfair Display"/>
                <a:sym typeface="Playfair Display"/>
              </a:rPr>
              <a:t>N-gram Language Model Classifier</a:t>
            </a:r>
            <a:endParaRPr sz="3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33175" cy="50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9"/>
          <p:cNvSpPr txBox="1"/>
          <p:nvPr/>
        </p:nvSpPr>
        <p:spPr>
          <a:xfrm>
            <a:off x="2034300" y="1801500"/>
            <a:ext cx="46746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Current Pipeline</a:t>
            </a:r>
            <a:endParaRPr b="1" sz="3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0"/>
          <p:cNvSpPr txBox="1"/>
          <p:nvPr/>
        </p:nvSpPr>
        <p:spPr>
          <a:xfrm>
            <a:off x="419750" y="79300"/>
            <a:ext cx="82599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Processing &amp; Model Development Pipeline </a:t>
            </a:r>
            <a:endParaRPr b="1" sz="3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72" name="Google Shape;372;p60"/>
          <p:cNvSpPr txBox="1"/>
          <p:nvPr/>
        </p:nvSpPr>
        <p:spPr>
          <a:xfrm>
            <a:off x="237825" y="1228075"/>
            <a:ext cx="8632500" cy="3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Data Acquisition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SPR2026 Mammography Report Classification dataset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Clinical reports + BI-RADS labels (0–6)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Data quality analysis (missing values, duplicates, class distribution)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Preprocessing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Remove target leakage (BI-RADS mentions)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Translate Portuguese to English 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Normalize text and preserve medical terminology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Quality checks to produce model-ready text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Data Splitting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Stratified 80:20 train-test split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5-fold Cross Validation for tuning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1"/>
          <p:cNvSpPr txBox="1"/>
          <p:nvPr/>
        </p:nvSpPr>
        <p:spPr>
          <a:xfrm>
            <a:off x="765000" y="517550"/>
            <a:ext cx="7614000" cy="3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Model Development  (Subject to Refinement)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Three parallel approaches: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Probabilistic N-gram Model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○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Unigram, Bigram, Trigram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○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Kneser-Ney smoothing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Machine Learning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○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TF-IDF features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○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Naive Bayes, Logistic Regression, SVM, Random Forest, XGBoost, LightGBM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Deep Learning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○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Word Embeddings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○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RNN, LSTM, BiLSTM, GRU, LSTM + Attention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Prediction Aggregation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Compare outputs from all </a:t>
            </a: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models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2"/>
          <p:cNvSpPr txBox="1"/>
          <p:nvPr/>
        </p:nvSpPr>
        <p:spPr>
          <a:xfrm>
            <a:off x="442800" y="978800"/>
            <a:ext cx="7614000" cy="3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Performance Evaluation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Macro F1 Score, Accuracy, Precision, Recall, Confusion Matrix, Per-class BI-RADS analysis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Explainability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SHAP &amp; LIME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Important clinical keywords and n-grams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Misclassification analysis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Efficiency Analysis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Final Comparison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Compare N-gram, ML, and DL models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Accuracy vs Interpretability vs Efficiency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●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Recommend the best model for clinical deployment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83" name="Google Shape;383;p62"/>
          <p:cNvSpPr txBox="1"/>
          <p:nvPr/>
        </p:nvSpPr>
        <p:spPr>
          <a:xfrm>
            <a:off x="1401300" y="182475"/>
            <a:ext cx="6435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Evaluation &amp; Comparative Analysis </a:t>
            </a:r>
            <a:endParaRPr b="1" sz="3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3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descr="A modern glass building under a sunny blue sky. " id="389" name="Google Shape;389;p63"/>
          <p:cNvPicPr preferRelativeResize="0"/>
          <p:nvPr/>
        </p:nvPicPr>
        <p:blipFill rotWithShape="1">
          <a:blip r:embed="rId3">
            <a:alphaModFix/>
          </a:blip>
          <a:srcRect b="36562" l="0" r="0" t="46566"/>
          <a:stretch/>
        </p:blipFill>
        <p:spPr>
          <a:xfrm>
            <a:off x="9127" y="0"/>
            <a:ext cx="9143997" cy="1028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0" name="Google Shape;390;p63"/>
          <p:cNvCxnSpPr/>
          <p:nvPr/>
        </p:nvCxnSpPr>
        <p:spPr>
          <a:xfrm rot="10800000">
            <a:off x="283720" y="46075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Kickoff Presentation">
  <a:themeElements>
    <a:clrScheme name="Simple Light">
      <a:dk1>
        <a:srgbClr val="FBFBFB"/>
      </a:dk1>
      <a:lt1>
        <a:srgbClr val="1C2026"/>
      </a:lt1>
      <a:dk2>
        <a:srgbClr val="F5F5F5"/>
      </a:dk2>
      <a:lt2>
        <a:srgbClr val="1C2026"/>
      </a:lt2>
      <a:accent1>
        <a:srgbClr val="E9E9E9"/>
      </a:accent1>
      <a:accent2>
        <a:srgbClr val="7A7A7A"/>
      </a:accent2>
      <a:accent3>
        <a:srgbClr val="C2C2C2"/>
      </a:accent3>
      <a:accent4>
        <a:srgbClr val="434343"/>
      </a:accent4>
      <a:accent5>
        <a:srgbClr val="666666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